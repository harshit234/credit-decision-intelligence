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 of fortnight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Architecture</c:v>
                  </c:pt>
                  <c:pt idx="1">
                    <c:v>Product</c:v>
                  </c:pt>
                  <c:pt idx="2">
                    <c:v>Engineering</c:v>
                  </c:pt>
                  <c:pt idx="3">
                    <c:v>Quality/Eval</c:v>
                  </c:pt>
                  <c:pt idx="4">
                    <c:v>Demo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75</c:v>
                </c:pt>
                <c:pt idx="2">
                  <c:v>28</c:v>
                </c:pt>
                <c:pt idx="3">
                  <c:v>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Now (honest)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Architecture</c:v>
                  </c:pt>
                  <c:pt idx="1">
                    <c:v>Product</c:v>
                  </c:pt>
                  <c:pt idx="2">
                    <c:v>Engineering</c:v>
                  </c:pt>
                  <c:pt idx="3">
                    <c:v>Quality/Eval</c:v>
                  </c:pt>
                  <c:pt idx="4">
                    <c:v>Demo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80</c:v>
                </c:pt>
                <c:pt idx="2">
                  <c:v>55</c:v>
                </c:pt>
                <c:pt idx="3">
                  <c:v>55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Agentic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Decision accuracy</c:v>
                  </c:pt>
                  <c:pt idx="1">
                    <c:v>Hard-stop catch</c:v>
                  </c:pt>
                  <c:pt idx="2">
                    <c:v>Grounded decisions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Single-LLM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Decision accuracy</c:v>
                  </c:pt>
                  <c:pt idx="1">
                    <c:v>Hard-stop catch</c:v>
                  </c:pt>
                  <c:pt idx="2">
                    <c:v>Grounded decisions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</c:v>
                </c:pt>
                <c:pt idx="1">
                  <c:v>27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Cost per outcome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outcome (₹)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Happy</c:v>
                  </c:pt>
                  <c:pt idx="1">
                    <c:v>Average</c:v>
                  </c:pt>
                  <c:pt idx="2">
                    <c:v>Sad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11</c:v>
                </c:pt>
                <c:pt idx="2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CREDIT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Underwriting Copilot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reasoning, verification, policy &amp; evaluation layer that turns a raw loan application into an evidence-backed, auditable recommendation for a human underwriter.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48640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4.5 of 6 · Project 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Tiwary · Himkar Vashishta · Aditya Arora · Harshit Gautam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docs-only to a benchmarked, auditable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73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readiness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 + Eval up from ~16%)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673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vs 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47288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over-approvals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vs single-LLM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673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1.61M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0216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real training table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+ LendingClub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15984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673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53144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invariants gated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127455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383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story, honestly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10607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sprints the project moved from docs-only to a runnable, safety-benchmarked, end-to-end slice on real data, taking the two heaviest, previously-empty buckets (Engineering 25% and Quality/Eval 25%) from near-zero to majority-done.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result: on a 128-case labelled golden set, the agentic pipeline catches 100% of regulatory hard-stops and commits 0 dangerous over-approvals, vs 26.5% and 16 for a single-LLM baseline, and grounds every decision with citations.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real numbers, not a round headline. Every figure in this deck is reproducible from committed code. What's left, deploy, live LLM wiring, RAGAS/calibration, is scoped into the final 1.5 weeks.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the agentic layer, not the risk model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pattern with an evaluator-optimizer loop. Every reasoning step is tagged by who decides: Rule, Model, or Human.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26080" y="1664208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EEF1F6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99232" y="166420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UI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60520" y="1956816"/>
            <a:ext cx="0" cy="14630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21031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E9F6F1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1031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FastAPI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48656" y="201168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2007108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2395728"/>
            <a:ext cx="0" cy="14630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2542032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FDF1E7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2587752"/>
            <a:ext cx="232257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2753258"/>
            <a:ext cx="2322576" cy="16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248656" y="245059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244602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54203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F1EEFB"/>
          </a:solidFill>
          <a:ln w="15875">
            <a:solidFill>
              <a:srgbClr val="5B3E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2587752"/>
            <a:ext cx="168249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42432" y="2753258"/>
            <a:ext cx="1682496" cy="16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fallback · retries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351776" y="245059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244602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734056"/>
            <a:ext cx="-274320" cy="0"/>
          </a:xfrm>
          <a:prstGeom prst="line">
            <a:avLst/>
          </a:prstGeom>
          <a:noFill/>
          <a:ln w="15875">
            <a:solidFill>
              <a:srgbClr val="5B3EC8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60520" y="2926080"/>
            <a:ext cx="0" cy="13716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700784" y="3063240"/>
            <a:ext cx="510235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700784" y="3063240"/>
            <a:ext cx="0" cy="11887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01568" y="3063240"/>
            <a:ext cx="0" cy="11887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02352" y="3063240"/>
            <a:ext cx="0" cy="11887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03136" y="3063240"/>
            <a:ext cx="0" cy="11887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0" y="3182112"/>
            <a:ext cx="1572768" cy="4572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3227832"/>
            <a:ext cx="14264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Verification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7552" y="343357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Income DB Tool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340864" y="3090672"/>
            <a:ext cx="237744" cy="23774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40864" y="308610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15184" y="3182112"/>
            <a:ext cx="1572768" cy="4572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88336" y="3227832"/>
            <a:ext cx="14264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88336" y="343357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Credit Bureau Tool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041648" y="3090672"/>
            <a:ext cx="237744" cy="23774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41648" y="308610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15968" y="3182112"/>
            <a:ext cx="1572768" cy="4572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3227832"/>
            <a:ext cx="14264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89120" y="343357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Policy Retrieval (RAG)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742432" y="3090672"/>
            <a:ext cx="237744" cy="23774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2432" y="308610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16752" y="3182112"/>
            <a:ext cx="1572768" cy="457200"/>
          </a:xfrm>
          <a:prstGeom prst="roundRect">
            <a:avLst>
              <a:gd name="adj" fmla="val 10000"/>
            </a:avLst>
          </a:prstGeom>
          <a:solidFill>
            <a:srgbClr val="E9F6F1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9904" y="3227832"/>
            <a:ext cx="14264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89904" y="343357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7443216" y="3090672"/>
            <a:ext cx="237744" cy="23774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43216" y="308610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700784" y="3639312"/>
            <a:ext cx="0" cy="109728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401568" y="3639312"/>
            <a:ext cx="0" cy="109728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102352" y="3639312"/>
            <a:ext cx="0" cy="109728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14400" y="3749040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3794760"/>
            <a:ext cx="142646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DB Tool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87552" y="3920033"/>
            <a:ext cx="1426464" cy="13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(mock)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2340864" y="365760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40864" y="3653028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615184" y="3749040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88336" y="3794760"/>
            <a:ext cx="142646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Tool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688336" y="3920033"/>
            <a:ext cx="1426464" cy="13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(mock)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4041648" y="365760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41648" y="3653028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315968" y="3749040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89120" y="3794760"/>
            <a:ext cx="142646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Retrieval Tool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389120" y="3920033"/>
            <a:ext cx="1426464" cy="13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5742432" y="365760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42432" y="3653028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700784" y="4059936"/>
            <a:ext cx="0" cy="19202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3401568" y="4059936"/>
            <a:ext cx="0" cy="19202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5102352" y="4059936"/>
            <a:ext cx="0" cy="19202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6803136" y="3639312"/>
            <a:ext cx="0" cy="612648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1700784" y="4251960"/>
            <a:ext cx="510235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3401568" y="4251960"/>
            <a:ext cx="0" cy="13716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2926080" y="43891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FDF1E7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99232" y="4434840"/>
            <a:ext cx="23225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Synthesizer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999232" y="4580230"/>
            <a:ext cx="2322576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signals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5248656" y="4297680"/>
            <a:ext cx="237744" cy="23774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48656" y="4293108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160520" y="4736592"/>
            <a:ext cx="0" cy="13716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2926080" y="4873752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FDECEC"/>
          </a:solidFill>
          <a:ln w="15875">
            <a:solidFill>
              <a:srgbClr val="B4231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99232" y="4919472"/>
            <a:ext cx="23225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Agent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999232" y="5064862"/>
            <a:ext cx="2322576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gate (RAGAS)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5248656" y="4782312"/>
            <a:ext cx="237744" cy="23774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48656" y="477774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 flipH="1">
            <a:off x="5394960" y="4462272"/>
            <a:ext cx="457200" cy="649224"/>
          </a:xfrm>
          <a:prstGeom prst="line">
            <a:avLst/>
          </a:prstGeom>
          <a:noFill/>
          <a:ln w="13970">
            <a:solidFill>
              <a:srgbClr val="B42318"/>
            </a:solidFill>
            <a:prstDash val="dash"/>
            <a:headEnd type="triangle"/>
          </a:ln>
        </p:spPr>
      </p:sp>
      <p:sp>
        <p:nvSpPr>
          <p:cNvPr id="86" name="Shape 84"/>
          <p:cNvSpPr/>
          <p:nvPr/>
        </p:nvSpPr>
        <p:spPr>
          <a:xfrm>
            <a:off x="4160520" y="5221224"/>
            <a:ext cx="0" cy="64008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1988820" y="5285232"/>
            <a:ext cx="4626864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1988820" y="5285232"/>
            <a:ext cx="0" cy="11887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4302252" y="5285232"/>
            <a:ext cx="0" cy="11887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6615684" y="5285232"/>
            <a:ext cx="0" cy="11887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914400" y="5404104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EEF1F6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7552" y="5449824"/>
            <a:ext cx="200253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 Writer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987552" y="5680710"/>
            <a:ext cx="200253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JSON/DB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2916936" y="531266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916936" y="5308092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3227832" y="5404104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E9F6F1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00984" y="5404104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Auditable Decision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5541264" y="5404104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1EEFB"/>
          </a:solidFill>
          <a:ln w="15875">
            <a:solidFill>
              <a:srgbClr val="5B3EC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14416" y="5449824"/>
            <a:ext cx="200253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Underwriter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5614416" y="5680710"/>
            <a:ext cx="200253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decline / refer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7543800" y="5312664"/>
            <a:ext cx="237744" cy="237744"/>
          </a:xfrm>
          <a:prstGeom prst="ellipse">
            <a:avLst/>
          </a:prstGeom>
          <a:solidFill>
            <a:srgbClr val="5B3E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543800" y="5308092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044952" y="5655564"/>
            <a:ext cx="2011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5358384" y="5655564"/>
            <a:ext cx="2011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8275320" y="1691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8503920" y="1828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decides, total counts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503920" y="2212848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8" name="Text 106"/>
          <p:cNvSpPr/>
          <p:nvPr/>
        </p:nvSpPr>
        <p:spPr>
          <a:xfrm>
            <a:off x="8823960" y="21854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Rule decides</a:t>
            </a:r>
            <a:endParaRPr lang="en-US" sz="1150" dirty="0"/>
          </a:p>
        </p:txBody>
      </p:sp>
      <p:sp>
        <p:nvSpPr>
          <p:cNvPr id="109" name="Text 107"/>
          <p:cNvSpPr/>
          <p:nvPr/>
        </p:nvSpPr>
        <p:spPr>
          <a:xfrm>
            <a:off x="10881360" y="21671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110" name="Shape 108"/>
          <p:cNvSpPr/>
          <p:nvPr/>
        </p:nvSpPr>
        <p:spPr>
          <a:xfrm>
            <a:off x="8503920" y="2596896"/>
            <a:ext cx="219456" cy="21945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11" name="Text 109"/>
          <p:cNvSpPr/>
          <p:nvPr/>
        </p:nvSpPr>
        <p:spPr>
          <a:xfrm>
            <a:off x="8823960" y="25694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Model decides</a:t>
            </a:r>
            <a:endParaRPr lang="en-US" sz="1150" dirty="0"/>
          </a:p>
        </p:txBody>
      </p:sp>
      <p:sp>
        <p:nvSpPr>
          <p:cNvPr id="112" name="Text 110"/>
          <p:cNvSpPr/>
          <p:nvPr/>
        </p:nvSpPr>
        <p:spPr>
          <a:xfrm>
            <a:off x="10881360" y="25511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>
            <a:off x="8503920" y="2980944"/>
            <a:ext cx="219456" cy="219456"/>
          </a:xfrm>
          <a:prstGeom prst="ellipse">
            <a:avLst/>
          </a:prstGeom>
          <a:solidFill>
            <a:srgbClr val="5B3EC8"/>
          </a:solidFill>
          <a:ln/>
        </p:spPr>
      </p:sp>
      <p:sp>
        <p:nvSpPr>
          <p:cNvPr id="114" name="Text 112"/>
          <p:cNvSpPr/>
          <p:nvPr/>
        </p:nvSpPr>
        <p:spPr>
          <a:xfrm>
            <a:off x="8823960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Human decides</a:t>
            </a:r>
            <a:endParaRPr lang="en-US" sz="1150" dirty="0"/>
          </a:p>
        </p:txBody>
      </p:sp>
      <p:sp>
        <p:nvSpPr>
          <p:cNvPr id="115" name="Text 113"/>
          <p:cNvSpPr/>
          <p:nvPr/>
        </p:nvSpPr>
        <p:spPr>
          <a:xfrm>
            <a:off x="10881360" y="2935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6" name="Shape 114"/>
          <p:cNvSpPr/>
          <p:nvPr/>
        </p:nvSpPr>
        <p:spPr>
          <a:xfrm>
            <a:off x="8503920" y="3429000"/>
            <a:ext cx="2971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503920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tagged nodes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10881360" y="3474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700" dirty="0"/>
          </a:p>
        </p:txBody>
      </p:sp>
      <p:sp>
        <p:nvSpPr>
          <p:cNvPr id="119" name="Shape 117"/>
          <p:cNvSpPr/>
          <p:nvPr/>
        </p:nvSpPr>
        <p:spPr>
          <a:xfrm>
            <a:off x="8275320" y="3977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DF1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503920" y="4160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never disburses</a:t>
            </a:r>
            <a:endParaRPr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8503920" y="45262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irreversible, large-blast action, disbursing a loan, sits behind the human underwriter, outside the agent graph. Every model (M) edge is bounded by typed state, citations and a faithfulness gate; every rule (R) edge is deterministic. The copilot advises; the underwriter decides.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DESIGN &amp; DE-RISK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the architecture, contracts &amp;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149840" y="594360"/>
            <a:ext cx="384048" cy="384048"/>
          </a:xfrm>
          <a:prstGeom prst="ellipse">
            <a:avLst/>
          </a:prstGeom>
          <a:solidFill>
            <a:srgbClr val="E9F6F1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576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D9488"/>
                </a:solidFill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07040" y="6217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876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876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276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sequence &amp; state-schema diagrams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0848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/ LLD / schema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7876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7876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6872" y="16276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schema-first shared state with write-isolation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76872" y="20848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state/application_state.py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02209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22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28620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 contracts + failure-mode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31927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agents/nodes.py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99632" y="269748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28232" y="302209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022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76872" y="28620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defended vs 8 alternatives; North-Star = TDR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76872" y="331927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DATASET_COMPARISON.md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42565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4096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 Decision Records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5537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DECISIONS.md (ADR-001…012)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9632" y="39319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42565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76872" y="4096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scaffolding, CI stub, risk register, runbook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76872" y="45537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 · docs/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forward: LiteLLM gateway to live models · policy-corpus RAG spike.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BUILD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application, end-to-end, on real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149840" y="594360"/>
            <a:ext cx="384048" cy="384048"/>
          </a:xfrm>
          <a:prstGeom prst="ellipse">
            <a:avLst/>
          </a:prstGeom>
          <a:solidFill>
            <a:srgbClr val="E9F6F1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576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D9488"/>
                </a:solidFill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07040" y="6217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700784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54533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vertical slice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15568" y="19293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→ merge → risk → synth → eval ↺ → record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41732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700784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154533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replay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19293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~10.7 recoverable checkpoints / decision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2734056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25786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merged dataset, 1,613,898 rows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15568" y="29626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+ LendingClub · 0% feature nulls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2450592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734056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5786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 + OOM-safe 1.2 GB reader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0" y="29626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allow-list load · ADR-012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83864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" y="376732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3758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set, 128 cases, 8 strata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" y="3995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by an independent oracle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9632" y="3483864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376732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758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Single-LLM baseline + agentic benchmark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858000" y="3995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17136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8368" y="480060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15568" y="46451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on real data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115568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+ age gaps surfaced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4517136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0" y="480060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0" y="46451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economics model + Readiness Scorecard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85800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₹4.91 to ₹40.82 per decision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VS THE RUBRIC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25% buckets moved the most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4069080" cy="4754880"/>
          </a:xfrm>
          <a:prstGeom prst="roundRect">
            <a:avLst>
              <a:gd name="adj" fmla="val 1798"/>
            </a:avLst>
          </a:prstGeom>
          <a:solidFill>
            <a:srgbClr val="E9F6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readiness ≈ 60%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80% (final 1.5 weeks):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09560" y="288036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live + real baseline numbers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Policy-corpus ChromaDB RAG spike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free tier + record demo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runner + calibrated judge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risk model + calibration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vs. single-LLM baseline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128-case golden set (8 strata, seed 42), graded against an independent senior-underwriter oracle. Both engines are deterministic stand-ins, this isolates the structural safety the agentic design adds, before real LLM wiring.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874520"/>
            <a:ext cx="4069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09560" y="203911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vs 16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909560" y="2651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over-approvals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3401568"/>
            <a:ext cx="4069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35661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vs 36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909560" y="41788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hard-stops missed (of 49)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4928616"/>
            <a:ext cx="4069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09560" y="509320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909560" y="570585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faithfulness (100% pass)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MATTERS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underwriter vs. the agentic system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estimates for a typical thin-file manual review, based on common industry ranges, not measured on this project. Shown to size the manual work the copilot removes; see the golden-set benchmark (previous slide) for our only measured, reproducible numbers.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60520"/>
                <a:gridCol w="44622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underwriter (illustrative)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copilot (this deck)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~20–30 min manual read + cross-checks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to draft; human reviews only the flagged ~15%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/ hard-stop catch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by reviewer fatigue and experience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on the 128-case golden set (measured)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vary by reviewer; rarely fully structured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decision carries citations + a replayable audit record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work removed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of first-pass reads done by a person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 of first-pass reads automated; only ambiguous cases escalate (Average config)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decision (measured)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 analyst cost, not measured 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₹4.91 – ₹40.82, ₹10.63 in the Average 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with volume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 more underwriters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compute; human gate only for escalations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layer doesn't replace underwriter judgment, it removes the repetitive first-pass read and hands the human a pre-verified, cited case only when it's genuinely ambiguous.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CARD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Agency, who decides at each edge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81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10677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edges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581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47288" y="210677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decides (R)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581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0216" y="210677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(M)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15984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581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3E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53144" y="210677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 (H)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present?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9992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agency (M share)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3291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50%, Medium (0 binding / irreversible edges)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Leash (longest unsupervised run)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boxes: risk → synthesize → evaluate (all checkpointed)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877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Riskiest M edge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38770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“synthesize decision”, the approve/decline/refer draft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E9F6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81728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Verdict, does this problem deserve agency?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Reconciling heterogeneous thin-file evidence and grounding it against policy is genuinely multi-step. But every model edge is bounded by typed state, mandatory citations, a faithfulness gate, deterministic hard-stops and a human on the binding call, agency is scoped to reasoning, never to irreversible action.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CARD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+ After, blast radius × reversibility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model edges, by risk quadrant: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4612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85216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blast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blast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783080"/>
            <a:ext cx="2468880" cy="1050000"/>
          </a:xfrm>
          <a:prstGeom prst="roundRect">
            <a:avLst>
              <a:gd name="adj" fmla="val 4000"/>
            </a:avLst>
          </a:prstGeom>
          <a:solidFill>
            <a:srgbClr val="E9F6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958080"/>
            <a:ext cx="2468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2478080"/>
            <a:ext cx="2194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 edges live here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2468880" cy="1050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958080"/>
            <a:ext cx="2468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246120" y="2970240"/>
            <a:ext cx="2468880" cy="1050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145240"/>
            <a:ext cx="2468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852160" y="2970240"/>
            <a:ext cx="2468880" cy="10500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3145240"/>
            <a:ext cx="2468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989320" y="3665240"/>
            <a:ext cx="21945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disbursal, human-gated, not the agent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0000"/>
          <a:ext cx="11277600" cy="19000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7620000"/>
              </a:tblGrid>
              <a:tr h="38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built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synthesize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Rev+small (consequential)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Citations + faithfulness gate + human sign-off → 0 over-approvals / 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hard-stop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Irrev+large if acted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rule, not the model → 100% catch (0/49 missed)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Rev+small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measured on real data (DP 6.0pp; age 30→74%)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income/credit 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Rev+small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(not stated) income + discrepancy 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CARDS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Economics, cost per loan decision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6062472" cy="914400"/>
        </p:xfrm>
        <a:graphic>
          <a:graphicData uri="http://schemas.openxmlformats.org/drawingml/2006/table">
            <a:tbl>
              <a:tblPr/>
              <a:tblGrid>
                <a:gridCol w="2039112"/>
                <a:gridCol w="12801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/ 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 / 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(max)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H-gate trigger ×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×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×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×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monthly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₹49,064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₹3,18,865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₹24,49,089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0292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E9F6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52578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Read: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is trivial (₹1 to 4 per decision), the human review gate dominates the bill. The cost lever is the escalation rate, which is exactly what the faithfulness gate controls. Prices: GPT-4o-mini + GPT-4o list rates, Jul 2026, FX ₹83/USD.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CARD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value, cheapest config that still holds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monthly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₹49,064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₹3,18,865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₹24,49,089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≥ 0.80 (100% pass)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Hard-stop catch = 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dangerous over-approvals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accuracy ≥ 75% (78.1%)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gap within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SLAs held (latency / availability)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4069080" cy="3657600"/>
          </a:xfrm>
          <a:prstGeom prst="roundRect">
            <a:avLst>
              <a:gd name="adj" fmla="val 2000"/>
            </a:avLst>
          </a:prstGeom>
          <a:solidFill>
            <a:srgbClr val="E9F6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21031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Average configuration wins: 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cheap/strong LiteLLM routing, retry cap 2, faithfulness gate 0.80, ~15% human gate.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quality KPIs + SLAs met at ₹10.63 / decision (~₹3.2 L/month at 30k decisions).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Sad path shows where to add an async human-review queue + fallback budget before scaling past ~60k/mo.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delivered together this fortnight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the two 25% buckets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198424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Engineering + Quality/Eval from ~16% docs-only to a runnable, tested, benchmarked system on real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64592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76872" y="1600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the headline result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76872" y="198424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vs single-LLM, honest reproducible deltas, the project's defining artifact.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0040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1546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real fairness audit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34440" y="353872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 applicants; concrete gender/age gaps surfaced, not assumed away.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9632" y="29718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20040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76872" y="31546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unit economics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76872" y="353872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₹4.91 to ₹40.82 per decision; the human gate, not tokens, is the cost lever.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75488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47091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Readiness Scorecard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34440" y="509320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cards with numbers traceable to committed code.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45262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475488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76872" y="47091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repo the source of truth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76872" y="509320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ADRs, living PROGRESS board, CI-gated safety invariants.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Team 02 · Futurense × IIT Gandhinagar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docs to a benchmarked, auditable system.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reproducible: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eval.golden_set  ·  eval.benchmark  ·  eval.fairness  ·  eval.economics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70248" y="4434840"/>
            <a:ext cx="365760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17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02 · Ayush Tiwary · Himkar Vashishta · Aditya Arora · Harshit Gautam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Halcyon Underwriting Copilot · Futurense × IIT Gandhinagar · Project 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Halcyon Underwriting Copilot — Production Readiness Review</dc:title>
  <dc:subject>PptxGenJS Presentation</dc:subject>
  <dc:creator>Team 02</dc:creator>
  <cp:lastModifiedBy>Team 02</cp:lastModifiedBy>
  <cp:revision>1</cp:revision>
  <dcterms:created xsi:type="dcterms:W3CDTF">2026-07-08T06:25:13Z</dcterms:created>
  <dcterms:modified xsi:type="dcterms:W3CDTF">2026-07-08T06:25:13Z</dcterms:modified>
</cp:coreProperties>
</file>